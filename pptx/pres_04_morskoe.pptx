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4466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Международное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морское право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Международное публичное право — Особенная часть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7FB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ПОНЯТИЕ И ИСТОЧНИКИ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solidFill>
            <a:srgbClr val="E4F0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960120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Международное морское право — отрасль МП, определяющая правовой статус морских пространств и порядок их использования, а также эксплуатации ресурсов в мирных целях.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4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8229600" cy="685800"/>
          </a:xfrm>
          <a:prstGeom prst="rect">
            <a:avLst/>
          </a:prstGeom>
          <a:solidFill>
            <a:srgbClr val="E4F0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377440"/>
            <a:ext cx="73152" cy="685800"/>
          </a:xfrm>
          <a:prstGeom prst="rect">
            <a:avLst/>
          </a:prstGeom>
          <a:solidFill>
            <a:srgbClr val="1A7FB5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957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4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ЮНКЛОС 1982 г.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Конвенция ООН по морскому праву (Монтего-Бей) — «конституция океанов». 320 статей + 9 приложений. Вступила в силу 16.11.1994. РФ ратифицировала в 1997 г.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8229600" cy="685800"/>
          </a:xfrm>
          <a:prstGeom prst="rect">
            <a:avLst/>
          </a:prstGeom>
          <a:solidFill>
            <a:srgbClr val="E4F0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200400"/>
            <a:ext cx="73152" cy="685800"/>
          </a:xfrm>
          <a:prstGeom prst="rect">
            <a:avLst/>
          </a:prstGeom>
          <a:solidFill>
            <a:srgbClr val="1A7FB5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2186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4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Женевские конвенции 1958 г.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474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конвенции: о территориальном море; об открытом море; о континентальном шельфе; о рыболовстве. Кодифицировали обычные нормы.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023360"/>
            <a:ext cx="8229600" cy="685800"/>
          </a:xfrm>
          <a:prstGeom prst="rect">
            <a:avLst/>
          </a:prstGeom>
          <a:solidFill>
            <a:srgbClr val="E4F0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4023360"/>
            <a:ext cx="73152" cy="685800"/>
          </a:xfrm>
          <a:prstGeom prst="rect">
            <a:avLst/>
          </a:prstGeom>
          <a:solidFill>
            <a:srgbClr val="1A7FB5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0416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4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Специальные конвенции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4297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МАРПОЛ 73/78 (загрязнение с судов); СОЛАС (охрана жизни на море); Конвенция о спасании 1989 г.; конвенции ИМО.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7FB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ПРИНЦИПЫ МЕЖДУНАРОДНОГО МОРСКОГО ПРАВА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731520"/>
          </a:xfrm>
          <a:prstGeom prst="rect">
            <a:avLst/>
          </a:prstGeom>
          <a:solidFill>
            <a:srgbClr val="E4F0F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54864" cy="731520"/>
          </a:xfrm>
          <a:prstGeom prst="rect">
            <a:avLst/>
          </a:prstGeom>
          <a:solidFill>
            <a:srgbClr val="1A7FB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88696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4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Свобода открытого моря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1430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Ст. 87 ЮНКЛОС — императивный отраслевой принцип. Открытое море открыто для всех государств (включая не имеющих выхода к морю). Свободы: судоходства, полётов, прокладки кабелей/трубопроводов, возведения искусственных островов, рыболовства, научных исследований.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691640"/>
            <a:ext cx="54864" cy="731520"/>
          </a:xfrm>
          <a:prstGeom prst="rect">
            <a:avLst/>
          </a:prstGeom>
          <a:solidFill>
            <a:srgbClr val="1A7FB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70992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4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Использование в мирных целях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19659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Ст. 88 ЮНКЛОС — открытое море резервируется для мирных целей. Также: ИЭЗ (ст. 58), транзитный проход (ст. 39), морские научные исследования (ст. 240).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8229600" cy="731520"/>
          </a:xfrm>
          <a:prstGeom prst="rect">
            <a:avLst/>
          </a:prstGeom>
          <a:solidFill>
            <a:srgbClr val="E4F0F8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514600"/>
            <a:ext cx="54864" cy="731520"/>
          </a:xfrm>
          <a:prstGeom prst="rect">
            <a:avLst/>
          </a:prstGeom>
          <a:solidFill>
            <a:srgbClr val="1A7FB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53288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4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Рациональное использование ресурсов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27889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Ст. 117–119 ЮНКЛОС — обязанность государств принимать меры по сохранению живых ресурсов. Истоки — Женевская конвенция о рыболовстве 1958 г.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82296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337560"/>
            <a:ext cx="54864" cy="731520"/>
          </a:xfrm>
          <a:prstGeom prst="rect">
            <a:avLst/>
          </a:prstGeom>
          <a:solidFill>
            <a:srgbClr val="1A7FB5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35584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4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Предотвращение загрязнения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6118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Ст. 192 ЮНКЛОС — государства обязаны защищать и сохранять морскую среду. Конвенция о сбросах 1972 г., МАРПОЛ 73/78, ответственность за нефтяное загрязнение.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4160520"/>
            <a:ext cx="8229600" cy="731520"/>
          </a:xfrm>
          <a:prstGeom prst="rect">
            <a:avLst/>
          </a:prstGeom>
          <a:solidFill>
            <a:srgbClr val="E4F0F8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4160520"/>
            <a:ext cx="54864" cy="731520"/>
          </a:xfrm>
          <a:prstGeom prst="rect">
            <a:avLst/>
          </a:prstGeom>
          <a:solidFill>
            <a:srgbClr val="1A7FB5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17880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4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Свобода научных исследований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44348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Ст. 238–240 ЮНКЛОС — все государства и организации вправе проводить морские научные исследования при соблюдении прав прибрежных государств.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7FB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МОРСКИЕ ПРОСТРАНСТВА (I)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5120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Зона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Ширина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Правовой режим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Внутренние воды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Внутри исходных линий (порты, бухты, заливы, устья рек)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Полный суверенитет государства. Иностранные суда — по разрешению или в силу обычая (заход в порты). Уголовная юрисдикция — по просьбе капитана или консула.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Территориальное море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 12 морских миль от исходных линий (ст. 3)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Суверенитет государства (включая дно, недра, воздушное пространство). Право мирного прохода иностранных судов (ст. 17–26): непрерывный и быстрый, без угрозы силой. Подводные лодки — в надводном положении.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Прилежащая зона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 24 морских миль (ст. 33)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Контроль в отношении: таможенных, фискальных, иммиграционных, санитарных нарушений. Не суверенитет, а функциональные полномочия.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ИЭЗ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 200 м. миль (ст. 55–75)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Суверенные права на разведку/разработку живых и неживых ресурсов. Юрисдикция: искусственные острова, научные исследования, защита среды. Другие государства: свобода судоходства, полётов, кабелей.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7FB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МОРСКИЕ ПРОСТРАНСТВА (II)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194560"/>
                <a:gridCol w="4754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Зона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Границы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Правовой режим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Континентальный шельф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 200 м. миль; может быть расширен до 350 (ст. 76). Комиссия по границам конт. шельфа.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Суверенные права на ресурсы дна и недр (минеральные, осадочные). Не затрагивает статус вод и воздушного пространства. Права носят исключительный характер — не требуют оккупации или провозглашения.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Открытое море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 пределами ИЭЗ (ст. 86). Не включает ИЭЗ, терр. море, внутренние, архипелажные воды.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Свобода для всех государств (ст. 87): судоходство, полёты, кабели, рыболовство, наука, острова. Юрисдикция государства флага. Универсальная юрисдикция: пиратство. Запрет: работорговля, наркотики, несанкционированное вещание.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Район (международное морское дно)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 пределами конт. шельфов (ст. 133–191)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Общее наследие человечества (ст. 136). Международный орган по морскому дну (Кингстон, Ямайка) — организация и контроль деятельности. Предприятие — орган Района, непосредственно осуществляющий деятельность.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0D3B5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3977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8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Исходные линии — базовая линия для отсчёта ширины зон. Нормальная исходная линия — линия наибольшего отлива (ст. 5). Прямые исходные линии — при изрезанной береговой линии, островах, дельтах (ст. 7).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7FB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ПРОЛИВЫ, КАНАЛЫ, АРХИПЕЛАЖНЫЕ ВОДЫ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2560320"/>
          </a:xfrm>
          <a:prstGeom prst="rect">
            <a:avLst/>
          </a:prstGeom>
          <a:solidFill>
            <a:srgbClr val="0D3B5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3931920" cy="411480"/>
          </a:xfrm>
          <a:prstGeom prst="rect">
            <a:avLst/>
          </a:prstGeom>
          <a:solidFill>
            <a:srgbClr val="0B1D3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60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МЕЖДУНАРОДНЫЕ ПРОЛИВЫ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3566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A8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Транзитный проход (ст. 38 ЮНКЛОС):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8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Свобода непрерывного и быстрого транзита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8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Для судов и летательных аппаратов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8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Подводные лодки — в подводном положении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8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Суда не могут быть остановлены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8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Примеры: Гибралтар, Малаккский, Ормузский, Баб-эль-Мандебский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931920" cy="2560320"/>
          </a:xfrm>
          <a:prstGeom prst="rect">
            <a:avLst/>
          </a:prstGeom>
          <a:solidFill>
            <a:srgbClr val="E4F0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14400"/>
            <a:ext cx="3931920" cy="411480"/>
          </a:xfrm>
          <a:prstGeom prst="rect">
            <a:avLst/>
          </a:prstGeom>
          <a:solidFill>
            <a:srgbClr val="14466B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960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АРХИПЕЛАЖНЫЕ ВОДЫ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417320"/>
            <a:ext cx="3566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Ст. 46–54 ЮНКЛОС: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Архипелажные государства — целиком состоящие из островов (Индонезия, Филиппины, Мальдивы)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Архипелажные исходные линии — соединяют крайние точки островов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Право архипелажного прохода — аналогично транзитному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Суверенитет над водами внутри линий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E4F0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657600"/>
            <a:ext cx="73152" cy="1188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4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Особые режимы: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9776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Международные каналы: Суэцкий (Конвенция 1888 г.), Панамский (Договор 1977 г.), Кильский — свобода прохода торговых судов.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Черноморские проливы: Конвенция Монтрё 1936 г. — свобода прохода торговых судов; ограничения для военных кораблей нечерноморских государств.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Балтийские проливы: Копенгагенский трактат 1857 г.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7FB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ЮРИСДИКЦИЯ. РАЗРЕШЕНИЕ СПОРОВ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2560320"/>
          </a:xfrm>
          <a:prstGeom prst="rect">
            <a:avLst/>
          </a:prstGeom>
          <a:solidFill>
            <a:srgbClr val="E4F0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73152" cy="2560320"/>
          </a:xfrm>
          <a:prstGeom prst="rect">
            <a:avLst/>
          </a:prstGeom>
          <a:solidFill>
            <a:srgbClr val="1A7FB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9601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ЮРИСДИКЦИЯ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Государство флага — основная юрисдикция в открытом море (ст. 92)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Прибрежное государство — юрисдикция во внутренних водах, терр. море, ИЭЗ, на шельфе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Государство порта — контроль в порту (port state control)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Универсальная юрисдикция — пиратство (ст. 105)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Право преследования по горячим следам (ст. 111)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931920" cy="2560320"/>
          </a:xfrm>
          <a:prstGeom prst="rect">
            <a:avLst/>
          </a:prstGeom>
          <a:solidFill>
            <a:srgbClr val="E4F0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14400"/>
            <a:ext cx="73152" cy="2560320"/>
          </a:xfrm>
          <a:prstGeom prst="rect">
            <a:avLst/>
          </a:prstGeom>
          <a:solidFill>
            <a:srgbClr val="1A7FB5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9601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4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РАЗРЕШЕНИЕ СПОРОВ (Часть XV)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132588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Обязательные процедуры (ст. 287):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Международный трибунал по морскому праву (ИТЛОС, Гамбург, 21 судья)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Международный суд ООН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Арбитраж по Приложению VII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Специальный арбитраж по Приложению VIII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Государство при ратификации выбирает процедуру. При отсутствии выбора — арбитраж по Прил. VII.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0D3B5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703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ЗАЩИТА МОРСКОЙ СРЕДЫ (Часть XII ЮНКЛОС)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0233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8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Ст. 192 — обязанность защищать и сохранять морскую среду. Ст. 207–212 — меры против загрязнения из наземных источников, с судов, из атмосферы, при захоронении, из морского дна. МАРПОЛ 73/78 — предотвращение загрязнения нефтью, химикатами, мусором.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4466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ПОНЯТИЯ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4114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1958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8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4 Женевские конвенции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1982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8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ЮНКЛОС (Монтего-Бей)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1994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8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вступление ЮНКЛОС в силу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1996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8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ИТЛОС (Гамбург)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миль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8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территориальное море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мили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8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прилежащая зона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миль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8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ИЭЗ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350 миль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8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макс. шельф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0" y="91440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Запомнить: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8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 принципов (свобода моря, мирное использование, ресурсы, среда, наука)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8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7 морских зон + их режимы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8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Мирный проход vs транзитный проход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8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Район = общее наследие человечества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8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ИТЛОС + 3 другие процедуры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8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Ст. 87, 88, 92, 192 ЮНКЛОС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ТЕМА 4 / 10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Международное морское право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Международное морское право</dc:title>
  <dc:subject>PptxGenJS Presentation</dc:subject>
  <dc:creator>PptxGenJS</dc:creator>
  <cp:lastModifiedBy>PptxGenJS</cp:lastModifiedBy>
  <cp:revision>1</cp:revision>
  <dcterms:created xsi:type="dcterms:W3CDTF">2026-03-16T21:01:39Z</dcterms:created>
  <dcterms:modified xsi:type="dcterms:W3CDTF">2026-03-16T21:01:39Z</dcterms:modified>
</cp:coreProperties>
</file>