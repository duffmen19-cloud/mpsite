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2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космическое право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ИСТОЧНИКИ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60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МКП — система юридических принципов и норм, определяющих правовой статус космического пространства и небесных тел за пределами земной атмосферы, и режим их использования. Одна из самых молодых отраслей МП.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источники: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38912"/>
          </a:xfrm>
          <a:prstGeom prst="rect">
            <a:avLst/>
          </a:prstGeom>
          <a:solidFill>
            <a:srgbClr val="E8EC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54864" cy="438912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о космосе 1967 г.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23774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договор — «конституция космоса». Принципы деятельности государств по исследованию и использованию космического пространства, включая Луну и другие небесные тела.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9504"/>
            <a:ext cx="54864" cy="438912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95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Соглашение о спасании космонавтов 1968 г.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88950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Обязанности по спасанию и возвращению космонавтов и объектов, запущенных в космос.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solidFill>
            <a:srgbClr val="E8E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01568"/>
            <a:ext cx="54864" cy="438912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015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об ответственности 1972 г.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40156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ответственность за ущерб, причинённый космическими объектами.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13632"/>
            <a:ext cx="54864" cy="438912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136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регистрации 1976 г.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391363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объектов, запускаемых в космическое пространство (национальный реестр + реестр Генсека ООН).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425696"/>
            <a:ext cx="8229600" cy="438912"/>
          </a:xfrm>
          <a:prstGeom prst="rect">
            <a:avLst/>
          </a:prstGeom>
          <a:solidFill>
            <a:srgbClr val="E8E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425696"/>
            <a:ext cx="54864" cy="438912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256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Соглашение о Луне 1979 г.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442569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Деятельность государств на Луне и других небесных телах. Луна — общее наследие человечества. Мало ратификаций.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МКП (Договор 1967 г.)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86868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6984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исследования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Космос открыт для исследования и использования всеми государствами на основе равноправия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7568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Неприсвоение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Космическое пространство и небесные тела не подлежат национальному присвоению (ни суверенитетом, ни оккупацией, ни любым иным способом)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114800" cy="86868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8152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Мирное использование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Деятельность в космосе — в соответствии с МП, в интересах мира и безопасности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8736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Демилитаризация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206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размещения на орбите ОМУ; запрет военных баз, укреплений, маневров на небесных телах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14800" cy="86868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6984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69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Спасание космонавтов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1887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Космонавты — «посланники человечества»; государства обязаны оказывать помощь при аварии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07568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075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ответственность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19456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 несёт ответственность за национальную космическую деятельность (включая частные компании)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6868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8152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Юрисдикция запуска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2004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юрисдикции и контроля запускающего государства над объектами и экипажами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087368"/>
            <a:ext cx="411480" cy="411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 космоса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4206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Предотвращение вредного загрязнения космоса и неблагоприятных изменений земной среды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ПРАВОВОЙ СТАТУС КОСМОСА И НЕБЕСНЫХ ТЕЛ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14183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КОСМИЧЕСКОЕ ПРОСТРАНСТВО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достояние человечества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подлежит присвоению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исследования и использования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Мирное использование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с воздушным пространством — ~100 км (линия Кармана, обычная норма МП)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 границы не определена договором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73152" cy="22860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НЕБЕСНЫЕ ТЕЛА (ЛУНА)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 исключительно в мирных целях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демилитаризация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Открытость станций для представителей других государств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Соглашение о Луне 1979 г.: Луна — общее наследие человечества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ратификаций (ни одна космическая держава не участвует)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Субъекты МКП: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965960" cy="109728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49040"/>
            <a:ext cx="19659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Запускающие государства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Осуществляют/организуют запуски или предоставляют территорию/установки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06040" y="374904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3749040"/>
            <a:ext cx="19659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организации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ИНТЕЛСАТ, ИНМАРСАТ, ЕКА и др.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1965960" cy="109728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749040"/>
            <a:ext cx="19659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Юридические лица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разрешения и под надзором государств (включая частные компании)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03720" y="374904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3749040"/>
            <a:ext cx="19659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Космонавты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Физические лица, непосредственно участвующие в полётах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ОТВЕТСТВЕННОСТЬ И РЕГИСТРАЦИЯ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ОБ ОТВЕТСТВЕННОСТИ 1972 г.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657600" cy="1188720"/>
          </a:xfrm>
          <a:prstGeom prst="rect">
            <a:avLst/>
          </a:prstGeom>
          <a:solidFill>
            <a:srgbClr val="14183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АБСОЛЮТНАЯ ОТВЕТСТВЕННОСТЬ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ущерб на поверхности Земли или воздушному судну в полёте.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требуется доказательство вины.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4023360" cy="1188720"/>
          </a:xfrm>
          <a:prstGeom prst="rect">
            <a:avLst/>
          </a:prstGeom>
          <a:solidFill>
            <a:srgbClr val="2A3A7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 НА ОСНОВЕ ВИНЫ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737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ущерб в космосе другому космическому объекту.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Требуется доказать вину запускающего государства.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Понятие ущерба: лишение жизни, телесные повреждения, уничтожение или повреждение имущества. Если запуск производится международной организацией — солидарная ответственность государств-участников.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E8E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73152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РЕГИСТРАЦИИ 1976 г.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космический объект подлежит регистрации: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Национальный реестр запускающего государства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Реестр Генерального секретаря ООН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название запускающего государства, обозначение объекта, дата и территория запуска, основные орбитальные параметры, общее назначение объекта.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ОРГАНИЗАЦИИ И НАЦИОНАЛЬНОЕ ПРАВО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организации: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E8E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572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ИНТЕЛСАТ (1965)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188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организация дальней связи через спутники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54864" cy="4572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ИНМАРСАТ (1979)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организация морской спутниковой связи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E8E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ЕКА (1975)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Европейское космическое агентство — исследования и запуски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457200"/>
          </a:xfrm>
          <a:prstGeom prst="rect">
            <a:avLst/>
          </a:prstGeom>
          <a:solidFill>
            <a:srgbClr val="3A5FC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Комитет ООН по космосу (COPUOS)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Юридический и научно-технический подкомитеты. Разработка договоров и рекомендаций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14183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РФ О КОСМИЧЕСКОЙ ДЕЯТЕЛЬНОСТИ (1993 г.)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Воспроизводит принципы Договора 1967 г.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космическая деятельность — в компетенции РФ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Руководство: Президент, Правительство, Роскосмос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Космическая инфраструктура: космодромы (Байконур, Восточный, Плесецк), стартовые комплексы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сохраняет юрисдикцию и контроль над экипажами и объектами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2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Спутник-1 (начало космической эры)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1961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Ю. Гагарин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Договор о космосе (базовый)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1968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Соглашение о спасании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Конвенция об ответственности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1976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Конвенция о регистрации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1979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Соглашение о Луне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Закон РФ о косм. деятельности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принципов МКП (Договор 1967)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источников (5 договоров)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Статус космоса = общее достояние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Абсолютная vs виновная ответственность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Регистрация: нац. реестр + ООН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Субъекты: государства, МО, юр. лица, космонавты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~100 км — граница космоса (обычай)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6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космическое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космическое право</dc:title>
  <dc:subject>PptxGenJS Presentation</dc:subject>
  <dc:creator>PptxGenJS</dc:creator>
  <cp:lastModifiedBy>PptxGenJS</cp:lastModifiedBy>
  <cp:revision>1</cp:revision>
  <dcterms:created xsi:type="dcterms:W3CDTF">2026-03-16T21:14:29Z</dcterms:created>
  <dcterms:modified xsi:type="dcterms:W3CDTF">2026-03-16T21:14:29Z</dcterms:modified>
</cp:coreProperties>
</file>