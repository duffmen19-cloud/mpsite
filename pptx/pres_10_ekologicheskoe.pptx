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Международное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экологическое право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публичное право — Особенная часть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E4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ПОНЯТИЕ И ПРЕДМЕТ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7315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МЭколП — совокупность принципов и норм, направленных на обеспечение рационального использования природных ресурсов и защиту окружающей среды от загрязнения.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Негативные факторы: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651760" cy="109728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Нерациональное потребление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Хищническое использование и уничтожение компонентов природы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651760" cy="109728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Загрязнение среды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560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Промышленные выбросы, отходы, химическое и радиоактивное загрязнение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2194560"/>
            <a:ext cx="2651760" cy="109728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Военная деятельность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2560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Гонка вооружений, вооружённые конфликты, локальные войны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20440"/>
            <a:ext cx="73152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66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Декларация тысячелетия (8.09.2000, LV сессия ГА ООН):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8404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«Уважение к природе» — фундаментальная ценность для международных отношений в XXI в. (п. 23). Новая этика бережного и ответственного отношения к природе: реализация экологических соглашений, преодоление нерациональной эксплуатации водных ресурсов, борьба со стихийными бедствиями.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E4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СПЕЦИАЛЬНЫЕ ПРИНЦИПЫ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114800" cy="9144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868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забота человечества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143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сообщество на всех уровнях может и должно охранять окружающую среду (Конв. о биоразнообразии 1992, Конв. о китобойном промысле 1946).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0312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920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Общее достояние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194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Окружающая среда вне государственных границ не подлежит присвоению (Договор о космосе 1967, ЮНКЛОС 1982, Соглашение о Луне 1979).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114800" cy="9144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5468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Свобода исследования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государства и организации вправе осуществлять правомерную мирную научную деятельность (Договор об Антарктике 1959, ЮНКЛОС 1982).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20624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023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сотрудничество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4297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Экологические проблемы решаются в духе сотрудничества, равноправия и взаимной выгоды.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822960"/>
            <a:ext cx="4114800" cy="9144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515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868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Предосторожный подход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1143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Государства принимают предупредительные меры даже при отсутствии полной научной определённости (ст. 3 РКИК 1992).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8745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10312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1920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«Загрязнитель платит»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2194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Виновник загрязнения возмещает ущерб (Декларация Рио-92, рекомендации ОЭСР и ЕС).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114800" cy="9144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15468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информации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49240" y="3246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 на экологическую информацию, участие в принятии решений, доступ к правосудию (Орхусская конвенция 1998).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977640"/>
            <a:ext cx="4114800" cy="91440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4206240"/>
            <a:ext cx="411480" cy="4114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49240" y="4023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Непричинение трансграничного ущерба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4297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21 Стокгольмской декларации 1972 г.: государства не должны наносить ущерб среде других государств.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E4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ОСНОВОПОЛАГАЮЩИЕ ДОКУМЕНТЫ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4864" cy="731520"/>
          </a:xfrm>
          <a:prstGeom prst="rect">
            <a:avLst/>
          </a:prstGeom>
          <a:solidFill>
            <a:srgbClr val="4A9E4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4124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Стокгольмская декларация 1972 г.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конференция ООН по окружающей среде. 26 принципов. Принцип 21 — суверенитет + обязанность не причинять трансграничный ущерб. Создание ЮНЕП.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91640"/>
            <a:ext cx="54864" cy="731520"/>
          </a:xfrm>
          <a:prstGeom prst="rect">
            <a:avLst/>
          </a:prstGeom>
          <a:solidFill>
            <a:srgbClr val="4A9E4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0992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Декларация Рио-де-Жанейро 1992 г.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ООН по окружающей среде и развитию (ЮНСЕД, «Саммит Земли»). 27 принципов. Концепция устойчивого развития. Повестка дня на XXI век (Agenda 21). Принята РКИК, Конв. о биоразнообразии.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60320"/>
            <a:ext cx="54864" cy="502920"/>
          </a:xfrm>
          <a:prstGeom prst="rect">
            <a:avLst/>
          </a:prstGeom>
          <a:solidFill>
            <a:srgbClr val="4A9E4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7860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Йоханнесбургская декларация 2002 г.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Всемирный саммит по устойчивому развитию. Подтверждение приверженности принципам Рио. План выполнения.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54680"/>
            <a:ext cx="54864" cy="502920"/>
          </a:xfrm>
          <a:prstGeom prst="rect">
            <a:avLst/>
          </a:prstGeom>
          <a:solidFill>
            <a:srgbClr val="4A9E4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729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Повестка дня — 2030 (2015 г.)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Целей устойчивого развития (ЦУР/SDGs). Интеграция экологических, экономических и социальных аспектов.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УСТОЙЧИВОЕ РАЗВИТИЕ (sustainable development)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«Развитие, которое удовлетворяет потребности настоящего, не ставя под угрозу способность будущих поколений удовлетворять свои потребности» (доклад Комиссии Брундтланд «Наше общее будущее», 1987). Три составляющие: экологическая + экономическая + социальная.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E4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КОНВЕНЦИИ ПО НАПРАВЛЕНИЯМ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766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Сфера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Основные документы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Климат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Рамочная конвенция ООН об изменении климата (РКИК) 1992 г. → Киотский протокол 1997 г. (количественные обязательства по снижению выбросов) → Парижское соглашение 2015 г. (удержание потепления в пределах 2°C / стремление к 1,5°C)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Озоновый слой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Венская конвенция об охране озонового слоя 1985 г. → Монреальский протокол 1987 г. (запрет/ограничение фреонов — один из самых успешных экологических договоров)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Биоразнообразие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Конвенция о биоразнообразии 1992 г.; СИТЕС 1973 г. (торговля видами дикой фауны и флоры); Рамсарская конвенция 1971 г. (водно-болотные угодья); Боннская конвенция 1979 г. (мигрирующие виды)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Загрязнение воздуха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Конвенция о трансграничном загрязнении воздуха на большие расстояния 1979 г. (Женева) + 8 протоколов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Морская среда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ЮНКЛОС (часть XII); Конвенция по предотвращению загрязнения моря сбросами 1972 г.; МАРПОЛ 73/78; Конвенция о готовности к загрязнению нефтью 1990 г.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Опасные отходы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Базельская конвенция 1989 г. (трансграничная перевозка); Стокгольмская конвенция о стойких органических загрязнителях 2001 г.; Роттердамская конвенция 1998 г.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Ядерная безопасность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Конвенция об оперативном оповещении о ядерной аварии 1986 г.; Конвенция о ядерной безопасности 1994 г.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E4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МЕЖДУНАРОДНЫЕ ОРГАНИЗАЦИИ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137160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ЮНЕП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ООН по окружающей среде (1972, Найроби). Координация экологической деятельности ООН, развитие международного экологического права, мониторинг состояния среды.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3931920" cy="137160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МГЭИК (IPCC)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28016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Межправительственная группа экспертов по изменению климата (совместно ЮНЕП + ВМО). Научные доклады о климате — основа для РКИК и Парижского соглашения.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965960" cy="10058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68880"/>
            <a:ext cx="1965960" cy="45720"/>
          </a:xfrm>
          <a:prstGeom prst="rect">
            <a:avLst/>
          </a:prstGeom>
          <a:solidFill>
            <a:srgbClr val="4A9E4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420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Комиссия ООН по устойчивому развитию (1992) — контроль Повестки дня на XXI век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2468880"/>
            <a:ext cx="1965960" cy="10058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2468880"/>
            <a:ext cx="1965960" cy="45720"/>
          </a:xfrm>
          <a:prstGeom prst="rect">
            <a:avLst/>
          </a:prstGeom>
          <a:solidFill>
            <a:srgbClr val="4A9E4E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25420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МАГАТЭ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2834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Ядерная безопасность, стандарты радиационной защиты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1965960" cy="10058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468880"/>
            <a:ext cx="1965960" cy="45720"/>
          </a:xfrm>
          <a:prstGeom prst="rect">
            <a:avLst/>
          </a:prstGeom>
          <a:solidFill>
            <a:srgbClr val="4A9E4E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5420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834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Всемирная метеорологическая организация — метеорология и климат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2468880"/>
            <a:ext cx="1965960" cy="10058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2468880"/>
            <a:ext cx="1965960" cy="45720"/>
          </a:xfrm>
          <a:prstGeom prst="rect">
            <a:avLst/>
          </a:prstGeom>
          <a:solidFill>
            <a:srgbClr val="4A9E4E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25420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2834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Продовольственная и сельскохозяйственная организация — устойчивое сельское хозяйство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Региональные организации: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39776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ХЕЛКОМ — защита Балтийского моря (Хельсинкская конвенция 1992 г.)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ОСПАР — защита Северо-Восточной Атлантики (Конвенция 1992 г.)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Барселонская конвенция 1976 г. — защита Средиземного моря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Арктический совет (1996) — экологическое сотрудничество в Арктике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ДАТЫ И ПОНЯТИЯ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1972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Стокгольмская декларация, ЮНЕП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1985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Венская конвенция (озон)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1987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Монреальский протокол (фреоны)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1989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Базельская конвенция (отходы)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1992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Рио: Декларация, РКИК, Биоразнообразие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Киотский протокол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1998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Орхусская конвенция (информация)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Парижское соглашение + ЦУР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9144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Запомнить: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 специальных принципов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Стокгольм 1972 → Рио 1992 → Париж 2015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Устойчивое развитие (Брундтланд 1987)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РКИК → Киото → Париж (климат)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Монреальский протокол (озон)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ЮНЕП, МГЭИК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Предосторожный подход + загрязнитель платит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ТЕМА 10 / 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экологическое право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Международное экологическое право</dc:title>
  <dc:subject>PptxGenJS Presentation</dc:subject>
  <dc:creator>PptxGenJS</dc:creator>
  <cp:lastModifiedBy>PptxGenJS</cp:lastModifiedBy>
  <cp:revision>1</cp:revision>
  <dcterms:created xsi:type="dcterms:W3CDTF">2026-03-16T21:27:58Z</dcterms:created>
  <dcterms:modified xsi:type="dcterms:W3CDTF">2026-03-16T21:27:58Z</dcterms:modified>
</cp:coreProperties>
</file>