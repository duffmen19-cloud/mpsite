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2B4C8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ТЕМА 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Территория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 международном праве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749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Международное публичное право — Особенная часть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ПОНЯТИЕ И ВИДЫ ТЕРРИТОРИЙ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2651760" cy="397764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9144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ГОСУДАРСТВЕННАЯ ТЕРРИТОРИЯ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1417320"/>
            <a:ext cx="23774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Часть земного шара, находящаяся под суверенитетом определённого государства (ст. 4 Конституции РФ).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Состав: суша (включая недра до центра Земли) + внутренние воды + территориальное море (до 12 м.м.) + воздушное пространство (до 100–110 км).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Территориальное верховенство — высшая власть государства; исключается деятельность публичной власти другого государства.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91840" y="868680"/>
            <a:ext cx="2651760" cy="3977640"/>
          </a:xfrm>
          <a:prstGeom prst="rect">
            <a:avLst/>
          </a:prstGeom>
          <a:solidFill>
            <a:srgbClr val="2B5C8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29000" y="9144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ТЕРРИТОРИИ С МЕЖДУНАРОДНЫМ РЕЖИМОМ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29000" y="1417320"/>
            <a:ext cx="23774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пределами государственных границ, статус определён договорами. Открыты для всех государств.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Примеры: открытое море (ЮНКЛОС 1982), морское дно за пределами шельфов, космос (Договор 1967), Луна (Соглашение 1979), Антарктика (Договор 1959).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126480" y="868680"/>
            <a:ext cx="2651760" cy="3977640"/>
          </a:xfrm>
          <a:prstGeom prst="rect">
            <a:avLst/>
          </a:prstGeom>
          <a:solidFill>
            <a:srgbClr val="3B7CB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63640" y="9144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ТЕРРИТОРИИ СО СМЕШАННЫМ РЕЖИМОМ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263640" y="1417320"/>
            <a:ext cx="23774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Права как прибрежного государства, так и других государств.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Примеры: ИЭЗ, континентальный шельф, прилежащая зона, международные проливы. Шпицберген (Договор 1920 — суверенитет Норвегии, но свободный доступ для граждан участников).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ГОСУДАРСТВЕННАЯ ГРАНИЦА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868680"/>
            <a:ext cx="7680960" cy="640080"/>
          </a:xfrm>
          <a:prstGeom prst="rect">
            <a:avLst/>
          </a:prstGeom>
          <a:solidFill>
            <a:srgbClr val="E8EEF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9144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Государственная граница — линия и проходящая по ней вертикальная поверхность, определяющие пределы территории государства на суше, водах, в недрах и воздушном пространстве.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3931920" cy="146304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7373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ДЕЛИМИТАЦИЯ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Определение общего направления и положения границы по договору, на картах с подробным рельефом. Карты парафируются и прилагаются к договорам.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МС ООН (Ливия — Чад, 1994): делимитация — договорное «определение».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691640"/>
            <a:ext cx="3931920" cy="1463040"/>
          </a:xfrm>
          <a:prstGeom prst="rect">
            <a:avLst/>
          </a:prstGeom>
          <a:solidFill>
            <a:srgbClr val="2B5C8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7373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ДЕМАРКАЦИЯ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21031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Проведение линии на местности и установка пограничных знаков. Предполагает предварительную делимитацию.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Компетентные органы содержат знаки и просеки в соответствии с документами демаркации.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33375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4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Установление границ (Закон РФ «О государственной границе РФ»):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657600"/>
          <a:ext cx="84124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6126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Среда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Порядок установления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На суше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 характерным точкам, линиям рельефа или ясно видимым ориентирам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На море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 внешней границе территориального моря РФ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На судоходных реках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 середине главного фарватера (тальвегу)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На несудоходных реках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 середине русла (или главного рукава)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На мостах/плотинах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 середине сооружений (независимо от прохождения границы на воде)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ПРАВОВЫЕ ОСНОВАНИЯ ИЗМЕНЕНИЯ ТЕРРИТОРИИ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685800"/>
          </a:xfrm>
          <a:prstGeom prst="rect">
            <a:avLst/>
          </a:prstGeom>
          <a:solidFill>
            <a:srgbClr val="E8EEF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024128"/>
            <a:ext cx="457200" cy="457200"/>
          </a:xfrm>
          <a:prstGeom prst="ellipse">
            <a:avLst/>
          </a:prstGeom>
          <a:solidFill>
            <a:srgbClr val="2B4C8C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24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9326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4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Самоопределение народов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1207008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Осуществление права народов на самоопределение. Ст. 1 Пактов 1966 г. Может привести к образованию нового государства.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719072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" y="1828800"/>
            <a:ext cx="457200" cy="457200"/>
          </a:xfrm>
          <a:prstGeom prst="ellipse">
            <a:avLst/>
          </a:prstGeom>
          <a:solidFill>
            <a:srgbClr val="2B4C8C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1737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4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Цессия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34440" y="2011680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Уступка территории одним государством другому на основе договора и добровольного согласия.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523744"/>
            <a:ext cx="8229600" cy="685800"/>
          </a:xfrm>
          <a:prstGeom prst="rect">
            <a:avLst/>
          </a:prstGeom>
          <a:solidFill>
            <a:srgbClr val="E8EEF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" y="2633472"/>
            <a:ext cx="457200" cy="457200"/>
          </a:xfrm>
          <a:prstGeom prst="ellipse">
            <a:avLst/>
          </a:prstGeom>
          <a:solidFill>
            <a:srgbClr val="2B4C8C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26334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34440" y="2542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4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Обмен территориями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2816352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Взаимная цессия — обмен участками территории по соглашению между государствами.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328416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" y="3438144"/>
            <a:ext cx="457200" cy="457200"/>
          </a:xfrm>
          <a:prstGeom prst="ellipse">
            <a:avLst/>
          </a:prstGeom>
          <a:solidFill>
            <a:srgbClr val="2B4C8C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34381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34440" y="334670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4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Приращение территории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34440" y="3621024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Естественное увеличение территории: намыв, вулканическое образование, поднятие дна.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133088"/>
            <a:ext cx="8229600" cy="685800"/>
          </a:xfrm>
          <a:prstGeom prst="rect">
            <a:avLst/>
          </a:prstGeom>
          <a:solidFill>
            <a:srgbClr val="E8EEF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4360" y="4242816"/>
            <a:ext cx="457200" cy="457200"/>
          </a:xfrm>
          <a:prstGeom prst="ellipse">
            <a:avLst/>
          </a:prstGeom>
          <a:solidFill>
            <a:srgbClr val="2B4C8C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42428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34440" y="415137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4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Адъюдикация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234440" y="4425696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 международного суда или арбитража о принадлежности территории.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4590288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Неправомерны: аннексия (насильственный захват), оккупация территории силой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АНТАРКТИКА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9601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Договор об Антарктике 1959 г. (Вашингтон) — 12 первоначальных участников, вступил в силу 23.06.1961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4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Основные положения: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8229600" cy="548640"/>
          </a:xfrm>
          <a:prstGeom prst="rect">
            <a:avLst/>
          </a:prstGeom>
          <a:solidFill>
            <a:srgbClr val="E8EEF6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011680"/>
            <a:ext cx="54864" cy="5486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0116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4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Мирное использование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17520" y="20116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Используется исключительно в мирных целях (ст. 1). Запрещены любые военные мероприятия, кроме обеспечения научных экспедиций.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651760"/>
            <a:ext cx="54864" cy="5486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6517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4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Свобода науки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017520" y="26517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Свобода научных исследований (ст. 2). Сотрудничество: обмен персоналом, результатами, данными.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solidFill>
            <a:srgbClr val="E8EEF6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3291840"/>
            <a:ext cx="54864" cy="5486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2918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4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«Заморозка» претензий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17520" y="32918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Территориальные претензии «замораживаются» (ст. 4). Ни одно государство не отказывается от претензий, но и не признаёт чужие.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931920"/>
            <a:ext cx="54864" cy="5486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931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4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Ядерный запрет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017520" y="39319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Запрет ядерных взрывов и захоронения радиоактивных отходов (ст. 5).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E8EEF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0080" y="4590288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Мадридский протокол 1991 г. — охрана окружающей среды Антарктики, запрет добычи минеральных ресурсов на 50 лет.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АРКТИКА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Единого международного договора по Арктике нет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31920" cy="228600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2344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СЕКТОРАЛЬНАЯ ТЕОРИЯ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3566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Государства претендуют на арктический сектор от крайних точек побережья до Северного полюса.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Россия — Указ Президиума ЦИК СССР 1926 г.: все земли и острова в секторе принадлежат СССР.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Канада — Arctic Waters Pollution Prevention Act 1970 г.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Дания (Гренландия), Норвегия — частично применяют.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931920" cy="2286000"/>
          </a:xfrm>
          <a:prstGeom prst="rect">
            <a:avLst/>
          </a:prstGeom>
          <a:solidFill>
            <a:srgbClr val="E8EEF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88720"/>
            <a:ext cx="73152" cy="22860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234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4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КОНВЕНЦИОННЫЙ ПОДХОД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0" y="1645920"/>
            <a:ext cx="3474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Арктика регулируется ЮНКЛОС 1982 г. и общим международным правом.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Морские зоны (терр. море, ИЭЗ, конт. шельф) — по общим правилам.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Заявки на расширение шельфа: Россия (хребет Ломоносова), Канада, Дания.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8229600" cy="1188720"/>
          </a:xfrm>
          <a:prstGeom prst="rect">
            <a:avLst/>
          </a:prstGeom>
          <a:solidFill>
            <a:srgbClr val="E8EEF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657600"/>
            <a:ext cx="73152" cy="1188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7033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4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АРКТИЧЕСКИЙ СОВЕТ (1996 г., Оттавская декларация)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40233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приарктических государств: Россия, Канада, США, Норвегия, Дания, Исландия, Швеция, Финляндия. Форум сотрудничества: охрана среды, устойчивое развитие, благополучие коренных народов. Не занимается вопросами военной безопасности. Наблюдатели: Китай, Индия, Япония и др. Северный морской путь — национальная транспортная коммуникация РФ (ст. 234 ЮНКЛОС — ледовая оговорка).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МЕЖДУНАРОДНЫЕ РЕКИ И ОЗЁРА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868680"/>
            <a:ext cx="7680960" cy="548640"/>
          </a:xfrm>
          <a:prstGeom prst="rect">
            <a:avLst/>
          </a:prstGeom>
          <a:solidFill>
            <a:srgbClr val="E8EEF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914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Международные реки — реки, протекающие по территории двух и более государств или разделяющие их территории. Использование затрагивает интересы нескольких стран.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7772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Принцип справедливого и разумного использования (Конвенция о несудоходных видах использования международных водотоков 1997 г.)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Обязанность не причинять существенный ущерб другим прибрежным государствам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Свобода судоходства для прибрежных государств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Обязанность уведомлять о планируемых мерах, которые могут оказать значительное воздействие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Примеры режимов: Рейн (Мангеймская конвенция 1868), Дунай (Конвенция 1948), Нил, Амазонка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3749040"/>
            <a:ext cx="8229600" cy="1097280"/>
          </a:xfrm>
          <a:prstGeom prst="rect">
            <a:avLst/>
          </a:prstGeom>
          <a:solidFill>
            <a:srgbClr val="E8EEF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3749040"/>
            <a:ext cx="73152" cy="10972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7947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4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Демилитаризация и нейтрализация территорий: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406908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Демилитаризация — обязанность ликвидировать и не создавать военные укрепления и базы (полная или частичная). Нейтрализация — запрет ведения военных действий на определённой территории. Примеры: Аландские острова (1921), Антарктика (1959), Шпицберген (1920), космос (1967), Луна (1979).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2B4C8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КЛЮЧЕВЫЕ ПОНЯТИЯ И ДАТЫ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1920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Договор о Шпицбергене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1959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Договор об Антарктике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1991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Мадридский протокол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1996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Арктический совет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1997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Конв. о водотоках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Суша + недра + воды + воздух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государственная территория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0" y="91440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Запомнить: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 вида территорий + их характеристики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Делимитация vs демаркация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5 правовых оснований изменения территории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Антарктика: 4 принципа Договора 1959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Арктика: секторальная vs конвенционная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Установление границ по рекам (фарватер/середина)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Демилитаризация и нейтрализация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3749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ТЕМА 5 / 10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Территория в международном праве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Территория в международном праве</dc:title>
  <dc:subject>PptxGenJS Presentation</dc:subject>
  <dc:creator>PptxGenJS</dc:creator>
  <cp:lastModifiedBy>PptxGenJS</cp:lastModifiedBy>
  <cp:revision>1</cp:revision>
  <dcterms:created xsi:type="dcterms:W3CDTF">2026-03-16T21:05:45Z</dcterms:created>
  <dcterms:modified xsi:type="dcterms:W3CDTF">2026-03-16T21:05:45Z</dcterms:modified>
</cp:coreProperties>
</file>